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5560" y="-5878209"/>
            <a:ext cx="13852595" cy="13800648"/>
          </a:xfrm>
          <a:custGeom>
            <a:avLst/>
            <a:gdLst/>
            <a:ahLst/>
            <a:cxnLst/>
            <a:rect r="r" b="b" t="t" l="l"/>
            <a:pathLst>
              <a:path h="13800648" w="13852595">
                <a:moveTo>
                  <a:pt x="0" y="0"/>
                </a:moveTo>
                <a:lnTo>
                  <a:pt x="13852595" y="0"/>
                </a:lnTo>
                <a:lnTo>
                  <a:pt x="13852595" y="13800648"/>
                </a:lnTo>
                <a:lnTo>
                  <a:pt x="0" y="13800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81574">
            <a:off x="2025690" y="201158"/>
            <a:ext cx="23242060" cy="18797016"/>
          </a:xfrm>
          <a:custGeom>
            <a:avLst/>
            <a:gdLst/>
            <a:ahLst/>
            <a:cxnLst/>
            <a:rect r="r" b="b" t="t" l="l"/>
            <a:pathLst>
              <a:path h="18797016" w="23242060">
                <a:moveTo>
                  <a:pt x="0" y="0"/>
                </a:moveTo>
                <a:lnTo>
                  <a:pt x="23242060" y="0"/>
                </a:lnTo>
                <a:lnTo>
                  <a:pt x="23242060" y="18797017"/>
                </a:lnTo>
                <a:lnTo>
                  <a:pt x="0" y="18797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10408">
            <a:off x="5486400" y="6629736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02162" y="8197817"/>
            <a:ext cx="6099525" cy="1330805"/>
          </a:xfrm>
          <a:custGeom>
            <a:avLst/>
            <a:gdLst/>
            <a:ahLst/>
            <a:cxnLst/>
            <a:rect r="r" b="b" t="t" l="l"/>
            <a:pathLst>
              <a:path h="1330805" w="6099525">
                <a:moveTo>
                  <a:pt x="6099525" y="0"/>
                </a:moveTo>
                <a:lnTo>
                  <a:pt x="0" y="0"/>
                </a:lnTo>
                <a:lnTo>
                  <a:pt x="0" y="1330806"/>
                </a:lnTo>
                <a:lnTo>
                  <a:pt x="6099525" y="1330806"/>
                </a:lnTo>
                <a:lnTo>
                  <a:pt x="609952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000" y="1165794"/>
            <a:ext cx="993592" cy="793405"/>
          </a:xfrm>
          <a:custGeom>
            <a:avLst/>
            <a:gdLst/>
            <a:ahLst/>
            <a:cxnLst/>
            <a:rect r="r" b="b" t="t" l="l"/>
            <a:pathLst>
              <a:path h="793405" w="993592">
                <a:moveTo>
                  <a:pt x="0" y="0"/>
                </a:moveTo>
                <a:lnTo>
                  <a:pt x="993593" y="0"/>
                </a:lnTo>
                <a:lnTo>
                  <a:pt x="993593" y="793405"/>
                </a:lnTo>
                <a:lnTo>
                  <a:pt x="0" y="79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47074" y="1361717"/>
            <a:ext cx="2658111" cy="41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9"/>
              </a:lnSpc>
            </a:pPr>
            <a:r>
              <a:rPr lang="en-US" b="true" sz="29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DairySense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5044" y="8511477"/>
            <a:ext cx="8110538" cy="35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8"/>
              </a:lnSpc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livestock decision support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8739" y="3000989"/>
            <a:ext cx="8738098" cy="245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DairySense</a:t>
            </a:r>
          </a:p>
          <a:p>
            <a:pPr algn="l" marL="0" indent="0" lvl="0">
              <a:lnSpc>
                <a:spcPts val="8999"/>
              </a:lnSpc>
            </a:pP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5420970" y="-6253785"/>
            <a:ext cx="14564970" cy="14564970"/>
          </a:xfrm>
          <a:custGeom>
            <a:avLst/>
            <a:gdLst/>
            <a:ahLst/>
            <a:cxnLst/>
            <a:rect r="r" b="b" t="t" l="l"/>
            <a:pathLst>
              <a:path h="14564970" w="14564970">
                <a:moveTo>
                  <a:pt x="0" y="0"/>
                </a:moveTo>
                <a:lnTo>
                  <a:pt x="14564970" y="0"/>
                </a:lnTo>
                <a:lnTo>
                  <a:pt x="14564970" y="14564970"/>
                </a:lnTo>
                <a:lnTo>
                  <a:pt x="0" y="14564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530576" y="6824270"/>
            <a:ext cx="2434030" cy="2434030"/>
          </a:xfrm>
          <a:custGeom>
            <a:avLst/>
            <a:gdLst/>
            <a:ahLst/>
            <a:cxnLst/>
            <a:rect r="r" b="b" t="t" l="l"/>
            <a:pathLst>
              <a:path h="2434030" w="2434030">
                <a:moveTo>
                  <a:pt x="0" y="0"/>
                </a:moveTo>
                <a:lnTo>
                  <a:pt x="2434031" y="0"/>
                </a:lnTo>
                <a:lnTo>
                  <a:pt x="2434031" y="2434030"/>
                </a:lnTo>
                <a:lnTo>
                  <a:pt x="0" y="243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7860" y="5508113"/>
            <a:ext cx="9869980" cy="9869980"/>
          </a:xfrm>
          <a:custGeom>
            <a:avLst/>
            <a:gdLst/>
            <a:ahLst/>
            <a:cxnLst/>
            <a:rect r="r" b="b" t="t" l="l"/>
            <a:pathLst>
              <a:path h="9869980" w="9869980">
                <a:moveTo>
                  <a:pt x="0" y="0"/>
                </a:moveTo>
                <a:lnTo>
                  <a:pt x="9869980" y="0"/>
                </a:lnTo>
                <a:lnTo>
                  <a:pt x="9869980" y="9869980"/>
                </a:lnTo>
                <a:lnTo>
                  <a:pt x="0" y="9869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12900" y="1118928"/>
            <a:ext cx="7958265" cy="5152932"/>
            <a:chOff x="0" y="0"/>
            <a:chExt cx="10611020" cy="687057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0" t="1948" r="0" b="1948"/>
            <a:stretch>
              <a:fillRect/>
            </a:stretch>
          </p:blipFill>
          <p:spPr>
            <a:xfrm flipH="false" flipV="false">
              <a:off x="0" y="0"/>
              <a:ext cx="10611020" cy="6870576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0650664" y="1787425"/>
            <a:ext cx="6024436" cy="115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9"/>
              </a:lnSpc>
              <a:spcBef>
                <a:spcPct val="0"/>
              </a:spcBef>
            </a:pPr>
            <a:r>
              <a:rPr lang="en-US" b="true" sz="3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CHALLENGES IN DAIRY FARMING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0664" y="3314374"/>
            <a:ext cx="6024436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Unpredictable milk yield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Delayed disease detection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Lack of intelligent decision support systems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99540">
            <a:off x="-2867334" y="-4361769"/>
            <a:ext cx="12335518" cy="12335518"/>
          </a:xfrm>
          <a:custGeom>
            <a:avLst/>
            <a:gdLst/>
            <a:ahLst/>
            <a:cxnLst/>
            <a:rect r="r" b="b" t="t" l="l"/>
            <a:pathLst>
              <a:path h="12335518" w="12335518">
                <a:moveTo>
                  <a:pt x="0" y="0"/>
                </a:moveTo>
                <a:lnTo>
                  <a:pt x="12335518" y="0"/>
                </a:lnTo>
                <a:lnTo>
                  <a:pt x="12335518" y="12335518"/>
                </a:lnTo>
                <a:lnTo>
                  <a:pt x="0" y="1233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6270936" y="1476190"/>
            <a:ext cx="10511311" cy="10511311"/>
          </a:xfrm>
          <a:custGeom>
            <a:avLst/>
            <a:gdLst/>
            <a:ahLst/>
            <a:cxnLst/>
            <a:rect r="r" b="b" t="t" l="l"/>
            <a:pathLst>
              <a:path h="10511311" w="10511311">
                <a:moveTo>
                  <a:pt x="0" y="0"/>
                </a:moveTo>
                <a:lnTo>
                  <a:pt x="10511311" y="0"/>
                </a:lnTo>
                <a:lnTo>
                  <a:pt x="10511311" y="10511311"/>
                </a:lnTo>
                <a:lnTo>
                  <a:pt x="0" y="10511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213169"/>
            <a:ext cx="5147712" cy="115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9"/>
              </a:lnSpc>
              <a:spcBef>
                <a:spcPct val="0"/>
              </a:spcBef>
            </a:pPr>
            <a:r>
              <a:rPr lang="en-US" b="true" sz="322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DAIRYSENSE AI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84841"/>
            <a:ext cx="6084508" cy="175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seamless flow from farm data inputs through AI processing to actionable outputs — empowering smarter dairy decisions.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45605" y="2013688"/>
            <a:ext cx="5939625" cy="141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Breed, Feed Quality, Lactation Stage, Ambient Temperature, and Health Symptoms are collected from the farmer and sensors as structured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45605" y="1272628"/>
            <a:ext cx="3476917" cy="52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INPUTS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5605" y="4768054"/>
            <a:ext cx="5939625" cy="141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neural network and bio-rule engine analyze the inputs in real time, identifying patterns, anomalies, and predictive signals with high accuracy.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5605" y="4026994"/>
            <a:ext cx="3476917" cy="52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AI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45605" y="7522420"/>
            <a:ext cx="5939625" cy="106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Milk Yield Predictions, Health Risk Alerts, and Tailored Recommendations are delivered instantly to the farmer dashboard.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5605" y="6781360"/>
            <a:ext cx="3476917" cy="52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314FDD"/>
                </a:solidFill>
                <a:latin typeface="Poppins Bold"/>
                <a:ea typeface="Poppins Bold"/>
                <a:cs typeface="Poppins Bold"/>
                <a:sym typeface="Poppins Bold"/>
              </a:rPr>
              <a:t>OUTPUTS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33938">
            <a:off x="7105353" y="-2102388"/>
            <a:ext cx="19509722" cy="19412173"/>
          </a:xfrm>
          <a:custGeom>
            <a:avLst/>
            <a:gdLst/>
            <a:ahLst/>
            <a:cxnLst/>
            <a:rect r="r" b="b" t="t" l="l"/>
            <a:pathLst>
              <a:path h="19412173" w="19509722">
                <a:moveTo>
                  <a:pt x="0" y="0"/>
                </a:moveTo>
                <a:lnTo>
                  <a:pt x="19509722" y="0"/>
                </a:lnTo>
                <a:lnTo>
                  <a:pt x="19509722" y="19412173"/>
                </a:lnTo>
                <a:lnTo>
                  <a:pt x="0" y="19412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72022" y="2217763"/>
            <a:ext cx="5851474" cy="5851474"/>
            <a:chOff x="0" y="0"/>
            <a:chExt cx="7801965" cy="7801965"/>
          </a:xfrm>
        </p:grpSpPr>
        <p:sp>
          <p:nvSpPr>
            <p:cNvPr name="AutoShape 4" id="4"/>
            <p:cNvSpPr/>
            <p:nvPr/>
          </p:nvSpPr>
          <p:spPr>
            <a:xfrm rot="-2700000">
              <a:off x="-1543944" y="3829086"/>
              <a:ext cx="10889852" cy="0"/>
            </a:xfrm>
            <a:prstGeom prst="line">
              <a:avLst/>
            </a:prstGeom>
            <a:ln cap="rnd" w="139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rot="2700000">
              <a:off x="-1543944" y="3829086"/>
              <a:ext cx="10889852" cy="0"/>
            </a:xfrm>
            <a:prstGeom prst="line">
              <a:avLst/>
            </a:prstGeom>
            <a:ln cap="rnd" w="139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0732602" y="4371202"/>
            <a:ext cx="1396554" cy="1542622"/>
          </a:xfrm>
          <a:custGeom>
            <a:avLst/>
            <a:gdLst/>
            <a:ahLst/>
            <a:cxnLst/>
            <a:rect r="r" b="b" t="t" l="l"/>
            <a:pathLst>
              <a:path h="1542622" w="1396554">
                <a:moveTo>
                  <a:pt x="0" y="0"/>
                </a:moveTo>
                <a:lnTo>
                  <a:pt x="1396554" y="0"/>
                </a:lnTo>
                <a:lnTo>
                  <a:pt x="1396554" y="1542622"/>
                </a:lnTo>
                <a:lnTo>
                  <a:pt x="0" y="15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82046" y="6322657"/>
            <a:ext cx="1431242" cy="1515764"/>
          </a:xfrm>
          <a:custGeom>
            <a:avLst/>
            <a:gdLst/>
            <a:ahLst/>
            <a:cxnLst/>
            <a:rect r="r" b="b" t="t" l="l"/>
            <a:pathLst>
              <a:path h="1515764" w="1431242">
                <a:moveTo>
                  <a:pt x="0" y="0"/>
                </a:moveTo>
                <a:lnTo>
                  <a:pt x="1431242" y="0"/>
                </a:lnTo>
                <a:lnTo>
                  <a:pt x="1431242" y="1515764"/>
                </a:lnTo>
                <a:lnTo>
                  <a:pt x="0" y="1515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59407" y="4404469"/>
            <a:ext cx="1442627" cy="1442627"/>
          </a:xfrm>
          <a:custGeom>
            <a:avLst/>
            <a:gdLst/>
            <a:ahLst/>
            <a:cxnLst/>
            <a:rect r="r" b="b" t="t" l="l"/>
            <a:pathLst>
              <a:path h="1442627" w="1442627">
                <a:moveTo>
                  <a:pt x="0" y="0"/>
                </a:moveTo>
                <a:lnTo>
                  <a:pt x="1442627" y="0"/>
                </a:lnTo>
                <a:lnTo>
                  <a:pt x="1442627" y="1442627"/>
                </a:lnTo>
                <a:lnTo>
                  <a:pt x="0" y="1442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88941" y="1563343"/>
            <a:ext cx="1700301" cy="2416956"/>
          </a:xfrm>
          <a:custGeom>
            <a:avLst/>
            <a:gdLst/>
            <a:ahLst/>
            <a:cxnLst/>
            <a:rect r="r" b="b" t="t" l="l"/>
            <a:pathLst>
              <a:path h="2416956" w="1700301">
                <a:moveTo>
                  <a:pt x="0" y="0"/>
                </a:moveTo>
                <a:lnTo>
                  <a:pt x="1700301" y="0"/>
                </a:lnTo>
                <a:lnTo>
                  <a:pt x="1700301" y="2416956"/>
                </a:lnTo>
                <a:lnTo>
                  <a:pt x="0" y="2416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46683"/>
            <a:ext cx="7928998" cy="223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03"/>
              </a:lnSpc>
            </a:pPr>
            <a:r>
              <a:rPr lang="en-US" b="true" sz="6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926503"/>
            <a:ext cx="7470489" cy="168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Farmer Input → Data Processing → AI Models → Bio Rule Engine → Dashboard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seamless end-to-end pipeline delivering intelligent, real-time dairy insights.</a:t>
            </a:r>
          </a:p>
        </p:txBody>
      </p:sp>
      <p:grpSp>
        <p:nvGrpSpPr>
          <p:cNvPr name="Group 12" id="12"/>
          <p:cNvGrpSpPr/>
          <p:nvPr/>
        </p:nvGrpSpPr>
        <p:grpSpPr>
          <a:xfrm rot="-2161630">
            <a:off x="-3411004" y="8298540"/>
            <a:ext cx="11806013" cy="10145793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34749"/>
            <a:ext cx="8067311" cy="78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9"/>
              </a:lnSpc>
              <a:spcBef>
                <a:spcPct val="0"/>
              </a:spcBef>
            </a:pPr>
            <a:r>
              <a:rPr lang="en-US" b="true" sz="43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&amp; ACCURACY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9761"/>
            <a:ext cx="5807378" cy="219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Prediction Accuracy</a:t>
            </a:r>
          </a:p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DairySense AI consistently outperforms traditional methods in forecasting milk yield and detecting health risks early.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06911" y="3776118"/>
            <a:ext cx="10411375" cy="6153947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true" flipV="true" rot="2700000">
            <a:off x="10168747" y="-5197216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643211">
            <a:off x="-2385201" y="6220695"/>
            <a:ext cx="9797381" cy="9797381"/>
          </a:xfrm>
          <a:custGeom>
            <a:avLst/>
            <a:gdLst/>
            <a:ahLst/>
            <a:cxnLst/>
            <a:rect r="r" b="b" t="t" l="l"/>
            <a:pathLst>
              <a:path h="9797381" w="9797381">
                <a:moveTo>
                  <a:pt x="0" y="0"/>
                </a:moveTo>
                <a:lnTo>
                  <a:pt x="9797381" y="0"/>
                </a:lnTo>
                <a:lnTo>
                  <a:pt x="9797381" y="9797381"/>
                </a:lnTo>
                <a:lnTo>
                  <a:pt x="0" y="9797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50933" y="1244938"/>
            <a:ext cx="3177797" cy="2730919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46596" y="1396611"/>
            <a:ext cx="2786470" cy="2427572"/>
            <a:chOff x="0" y="0"/>
            <a:chExt cx="6350000" cy="5532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532120"/>
            </a:xfrm>
            <a:custGeom>
              <a:avLst/>
              <a:gdLst/>
              <a:ahLst/>
              <a:cxnLst/>
              <a:rect r="r" b="b" t="t" l="l"/>
              <a:pathLst>
                <a:path h="5532120" w="635000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390747" y="1528747"/>
            <a:ext cx="2498167" cy="2163300"/>
            <a:chOff x="0" y="0"/>
            <a:chExt cx="4282440" cy="370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536" t="0" r="-353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50933" y="5397838"/>
            <a:ext cx="3177797" cy="2730919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46596" y="5549511"/>
            <a:ext cx="2786470" cy="2427572"/>
            <a:chOff x="0" y="0"/>
            <a:chExt cx="6350000" cy="5532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532120"/>
            </a:xfrm>
            <a:custGeom>
              <a:avLst/>
              <a:gdLst/>
              <a:ahLst/>
              <a:cxnLst/>
              <a:rect r="r" b="b" t="t" l="l"/>
              <a:pathLst>
                <a:path h="5532120" w="635000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390747" y="5681647"/>
            <a:ext cx="2498167" cy="2163300"/>
            <a:chOff x="0" y="0"/>
            <a:chExt cx="4282440" cy="370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3536" t="0" r="-353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28854" y="1244938"/>
            <a:ext cx="3177797" cy="2730919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24518" y="1396611"/>
            <a:ext cx="2786470" cy="2427572"/>
            <a:chOff x="0" y="0"/>
            <a:chExt cx="6350000" cy="5532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5532120"/>
            </a:xfrm>
            <a:custGeom>
              <a:avLst/>
              <a:gdLst/>
              <a:ahLst/>
              <a:cxnLst/>
              <a:rect r="r" b="b" t="t" l="l"/>
              <a:pathLst>
                <a:path h="5532120" w="635000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3568669" y="1528747"/>
            <a:ext cx="2498167" cy="2163300"/>
            <a:chOff x="0" y="0"/>
            <a:chExt cx="4282440" cy="370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536" t="0" r="-353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228854" y="5397838"/>
            <a:ext cx="3177797" cy="2730919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424518" y="5549511"/>
            <a:ext cx="2786470" cy="2427572"/>
            <a:chOff x="0" y="0"/>
            <a:chExt cx="6350000" cy="5532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5532120"/>
            </a:xfrm>
            <a:custGeom>
              <a:avLst/>
              <a:gdLst/>
              <a:ahLst/>
              <a:cxnLst/>
              <a:rect r="r" b="b" t="t" l="l"/>
              <a:pathLst>
                <a:path h="5532120" w="635000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3568669" y="5681647"/>
            <a:ext cx="2498167" cy="2163300"/>
            <a:chOff x="0" y="0"/>
            <a:chExt cx="4282440" cy="370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3536" t="0" r="-353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-10800000">
            <a:off x="1034954" y="1028700"/>
            <a:ext cx="7209218" cy="4942481"/>
            <a:chOff x="0" y="0"/>
            <a:chExt cx="6350000" cy="43534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82550"/>
              <a:ext cx="6350000" cy="4269601"/>
            </a:xfrm>
            <a:custGeom>
              <a:avLst/>
              <a:gdLst/>
              <a:ahLst/>
              <a:cxnLst/>
              <a:rect r="r" b="b" t="t" l="l"/>
              <a:pathLst>
                <a:path h="4269601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4269601"/>
                  </a:lnTo>
                  <a:lnTo>
                    <a:pt x="6350000" y="4269601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383372" y="3969579"/>
            <a:ext cx="2868761" cy="5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27523" y="4539987"/>
            <a:ext cx="2580459" cy="28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 Disease Detection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1039447">
            <a:off x="16879310" y="2880993"/>
            <a:ext cx="10714577" cy="10714577"/>
          </a:xfrm>
          <a:custGeom>
            <a:avLst/>
            <a:gdLst/>
            <a:ahLst/>
            <a:cxnLst/>
            <a:rect r="r" b="b" t="t" l="l"/>
            <a:pathLst>
              <a:path h="10714577" w="10714577">
                <a:moveTo>
                  <a:pt x="0" y="0"/>
                </a:moveTo>
                <a:lnTo>
                  <a:pt x="10714577" y="0"/>
                </a:lnTo>
                <a:lnTo>
                  <a:pt x="10714577" y="10714577"/>
                </a:lnTo>
                <a:lnTo>
                  <a:pt x="0" y="1071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-5400000">
            <a:off x="3688278" y="4702406"/>
            <a:ext cx="1896316" cy="7215472"/>
            <a:chOff x="0" y="0"/>
            <a:chExt cx="1243904" cy="4733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3904" cy="4733047"/>
            </a:xfrm>
            <a:custGeom>
              <a:avLst/>
              <a:gdLst/>
              <a:ahLst/>
              <a:cxnLst/>
              <a:rect r="r" b="b" t="t" l="l"/>
              <a:pathLst>
                <a:path h="4733047" w="1243904">
                  <a:moveTo>
                    <a:pt x="1080074" y="0"/>
                  </a:moveTo>
                  <a:lnTo>
                    <a:pt x="0" y="0"/>
                  </a:lnTo>
                  <a:lnTo>
                    <a:pt x="0" y="4733047"/>
                  </a:lnTo>
                  <a:lnTo>
                    <a:pt x="76200" y="4733047"/>
                  </a:lnTo>
                  <a:lnTo>
                    <a:pt x="76200" y="76200"/>
                  </a:lnTo>
                  <a:lnTo>
                    <a:pt x="1243904" y="76200"/>
                  </a:lnTo>
                  <a:lnTo>
                    <a:pt x="1243904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84352" y="1301361"/>
            <a:ext cx="6033056" cy="115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9"/>
              </a:lnSpc>
              <a:spcBef>
                <a:spcPct val="0"/>
              </a:spcBef>
            </a:pPr>
            <a:r>
              <a:rPr lang="en-US" b="true" sz="3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INNOVATION &amp; FUTURE VISION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4352" y="2756840"/>
            <a:ext cx="6366431" cy="137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4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DairySense AI is built for the future — integrating AI with veterinary science, enabling early detection, and connecting the dairy ecosystem through a phased development roadmap.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05451" y="3969579"/>
            <a:ext cx="2868761" cy="5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49602" y="4539987"/>
            <a:ext cx="2580459" cy="28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AI &amp; Milk Prediction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05451" y="8122479"/>
            <a:ext cx="2868761" cy="5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49602" y="8692887"/>
            <a:ext cx="2580459" cy="28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+ Vet Integration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83372" y="8122479"/>
            <a:ext cx="2868761" cy="5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27523" y="8692887"/>
            <a:ext cx="2580459" cy="55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Connected Dairy Ecosystem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52324" y="0"/>
            <a:ext cx="10552876" cy="10287000"/>
            <a:chOff x="0" y="0"/>
            <a:chExt cx="14070501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59" r="0" b="1259"/>
            <a:stretch>
              <a:fillRect/>
            </a:stretch>
          </p:blipFill>
          <p:spPr>
            <a:xfrm flipH="false" flipV="false">
              <a:off x="0" y="0"/>
              <a:ext cx="14070501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6234585">
            <a:off x="-5855959" y="-3693638"/>
            <a:ext cx="15191719" cy="15191719"/>
          </a:xfrm>
          <a:custGeom>
            <a:avLst/>
            <a:gdLst/>
            <a:ahLst/>
            <a:cxnLst/>
            <a:rect r="r" b="b" t="t" l="l"/>
            <a:pathLst>
              <a:path h="15191719" w="15191719">
                <a:moveTo>
                  <a:pt x="0" y="0"/>
                </a:moveTo>
                <a:lnTo>
                  <a:pt x="15191718" y="0"/>
                </a:lnTo>
                <a:lnTo>
                  <a:pt x="15191718" y="15191719"/>
                </a:lnTo>
                <a:lnTo>
                  <a:pt x="0" y="1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1367623">
            <a:off x="12800607" y="-443981"/>
            <a:ext cx="7424873" cy="13397966"/>
            <a:chOff x="0" y="0"/>
            <a:chExt cx="2458399" cy="4436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336" cy="4436110"/>
            </a:xfrm>
            <a:custGeom>
              <a:avLst/>
              <a:gdLst/>
              <a:ahLst/>
              <a:cxnLst/>
              <a:rect r="r" b="b" t="t" l="l"/>
              <a:pathLst>
                <a:path h="4436110" w="829336">
                  <a:moveTo>
                    <a:pt x="660400" y="2504440"/>
                  </a:moveTo>
                  <a:cubicBezTo>
                    <a:pt x="1091990" y="1358900"/>
                    <a:pt x="581660" y="843280"/>
                    <a:pt x="401320" y="548640"/>
                  </a:cubicBezTo>
                  <a:cubicBezTo>
                    <a:pt x="135890" y="115570"/>
                    <a:pt x="203200" y="0"/>
                    <a:pt x="203200" y="0"/>
                  </a:cubicBezTo>
                  <a:lnTo>
                    <a:pt x="0" y="0"/>
                  </a:lnTo>
                  <a:cubicBezTo>
                    <a:pt x="59690" y="441960"/>
                    <a:pt x="1064538" y="1212850"/>
                    <a:pt x="618490" y="2147570"/>
                  </a:cubicBezTo>
                  <a:cubicBezTo>
                    <a:pt x="-59690" y="3520440"/>
                    <a:pt x="457200" y="4436110"/>
                    <a:pt x="457200" y="4436110"/>
                  </a:cubicBezTo>
                  <a:lnTo>
                    <a:pt x="685800" y="4436110"/>
                  </a:lnTo>
                  <a:cubicBezTo>
                    <a:pt x="685800" y="4436110"/>
                    <a:pt x="125730" y="3768090"/>
                    <a:pt x="660400" y="2504440"/>
                  </a:cubicBezTo>
                  <a:close/>
                </a:path>
              </a:pathLst>
            </a:custGeom>
            <a:solidFill>
              <a:srgbClr val="314FD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5578" y="0"/>
              <a:ext cx="765392" cy="4434842"/>
            </a:xfrm>
            <a:custGeom>
              <a:avLst/>
              <a:gdLst/>
              <a:ahLst/>
              <a:cxnLst/>
              <a:rect r="r" b="b" t="t" l="l"/>
              <a:pathLst>
                <a:path h="4434842" w="765392">
                  <a:moveTo>
                    <a:pt x="441962" y="3030220"/>
                  </a:moveTo>
                  <a:cubicBezTo>
                    <a:pt x="822962" y="1957070"/>
                    <a:pt x="892188" y="1464310"/>
                    <a:pt x="515622" y="820420"/>
                  </a:cubicBezTo>
                  <a:cubicBezTo>
                    <a:pt x="142242" y="254000"/>
                    <a:pt x="194312" y="0"/>
                    <a:pt x="194312" y="0"/>
                  </a:cubicBezTo>
                  <a:lnTo>
                    <a:pt x="7622" y="0"/>
                  </a:lnTo>
                  <a:cubicBezTo>
                    <a:pt x="7622" y="0"/>
                    <a:pt x="-59688" y="115570"/>
                    <a:pt x="205742" y="548640"/>
                  </a:cubicBezTo>
                  <a:cubicBezTo>
                    <a:pt x="386082" y="843280"/>
                    <a:pt x="896412" y="1358900"/>
                    <a:pt x="464822" y="2504440"/>
                  </a:cubicBezTo>
                  <a:cubicBezTo>
                    <a:pt x="-69848" y="3766820"/>
                    <a:pt x="488952" y="4434840"/>
                    <a:pt x="488952" y="4434840"/>
                  </a:cubicBezTo>
                  <a:lnTo>
                    <a:pt x="760732" y="4434840"/>
                  </a:lnTo>
                  <a:cubicBezTo>
                    <a:pt x="760732" y="4436110"/>
                    <a:pt x="194312" y="3724910"/>
                    <a:pt x="441962" y="303022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6283" y="0"/>
              <a:ext cx="2070846" cy="4436110"/>
            </a:xfrm>
            <a:custGeom>
              <a:avLst/>
              <a:gdLst/>
              <a:ahLst/>
              <a:cxnLst/>
              <a:rect r="r" b="b" t="t" l="l"/>
              <a:pathLst>
                <a:path h="4436110" w="2070846">
                  <a:moveTo>
                    <a:pt x="1159186" y="0"/>
                  </a:moveTo>
                  <a:lnTo>
                    <a:pt x="2337" y="0"/>
                  </a:lnTo>
                  <a:cubicBezTo>
                    <a:pt x="2337" y="0"/>
                    <a:pt x="-48463" y="254000"/>
                    <a:pt x="323647" y="820420"/>
                  </a:cubicBezTo>
                  <a:cubicBezTo>
                    <a:pt x="700428" y="1463040"/>
                    <a:pt x="630987" y="1957070"/>
                    <a:pt x="249987" y="3030220"/>
                  </a:cubicBezTo>
                  <a:cubicBezTo>
                    <a:pt x="3607" y="3724910"/>
                    <a:pt x="570027" y="4436110"/>
                    <a:pt x="570027" y="4436110"/>
                  </a:cubicBezTo>
                  <a:lnTo>
                    <a:pt x="2070846" y="4436110"/>
                  </a:lnTo>
                  <a:lnTo>
                    <a:pt x="2070846" y="0"/>
                  </a:lnTo>
                  <a:lnTo>
                    <a:pt x="1159186" y="0"/>
                  </a:lnTo>
                  <a:close/>
                </a:path>
              </a:pathLst>
            </a:custGeom>
            <a:solidFill>
              <a:srgbClr val="314FD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39900" y="1525008"/>
            <a:ext cx="7824848" cy="109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8"/>
              </a:lnSpc>
              <a:spcBef>
                <a:spcPct val="0"/>
              </a:spcBef>
            </a:pPr>
            <a:r>
              <a:rPr lang="en-US" b="true" sz="20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TRANSFORMING DAIRY</a:t>
            </a:r>
          </a:p>
          <a:p>
            <a:pPr algn="l" marL="0" indent="0" lvl="0">
              <a:lnSpc>
                <a:spcPts val="2868"/>
              </a:lnSpc>
              <a:spcBef>
                <a:spcPct val="0"/>
              </a:spcBef>
            </a:pPr>
            <a:r>
              <a:rPr lang="en-US" b="true" sz="20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FROM GUESSWORK</a:t>
            </a:r>
          </a:p>
          <a:p>
            <a:pPr algn="l" marL="0" indent="0" lvl="0">
              <a:lnSpc>
                <a:spcPts val="2868"/>
              </a:lnSpc>
              <a:spcBef>
                <a:spcPct val="0"/>
              </a:spcBef>
            </a:pPr>
            <a:r>
              <a:rPr lang="en-US" b="true" sz="20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9900" y="3998988"/>
            <a:ext cx="380619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DAHK-ObTsLo</dc:identifier>
  <dcterms:modified xsi:type="dcterms:W3CDTF">2011-08-01T06:04:30Z</dcterms:modified>
  <cp:revision>1</cp:revision>
  <dc:title>DairySense AI Overview</dc:title>
</cp:coreProperties>
</file>